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985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1 gave the system as a way of looking; this chapter dissects what is inside — the four components. Prerequisite: Chapter 1 (boundary, data vs information).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 5 (amber) is the payoff: identifying the responsible component. The verb throughout is 'take apart', repeated in the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lost order: a system where the technology is flawless and the outcome still fails. Sets up the claim that correctness is not a software property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are named first only because technically-minded people forget them first. Technology is last because it serves the other three, not the reverse.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IT students technology feels most important (it's what they study; its failures are visible). Reframe: visibility means fast repair; invisible, un-owned failures are the expensive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second, personal consequence: your work is judged by whether others' work improves, not by whether the code runs. That gap is the distance from programmer to system designer.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component gives one failure mode. The real world: one fails and the rest fail to catch it — which motivates the idea of a safeguard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failures can't be eliminated — the question is what holds them back. The delivery code is a process safeguard, delivered by technology. Weak point = the component with no safeguard.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people-role (who bears the consequences) is most often missed, yet decides whether a problem gets fixed. Name tech by function so the analysis survives brand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output of the 4 steps. It's a scaffold, not the answer — the weak point comes from asking the safeguard question of each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Boundary: from scanning to the seller accepting payment. The role table already surfaces the imbalance before any technology is 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Cheapest fix is a process change: seller checks their own incoming notification, not the buyer's screen. Cost: holding the phone while cooking slows the break-time queue. 'Available but unused data = no data.'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misconception maps to a chapter claim: IS != app; testing != correctness; people are irreplaceable for the unanticipated. Good discussion starters.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through-line: correctness is a property of the whole socio-technical system, not of the code. Safeguards and weak points return in Ch. 7 (process) and Ch. 8 (data).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C is the graded, judgement task. C-2 (the courier's four-digit code) forces a defended stance on which component is benefited vs burdened.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 ·  UNDERSTANDING INFORMATION SYSTEMS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an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System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237744" cy="237744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877824" y="50292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5074920"/>
            <a:ext cx="237744" cy="23774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2615184" y="50292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5074920"/>
            <a:ext cx="237744" cy="237744"/>
          </a:xfrm>
          <a:prstGeom prst="rect">
            <a:avLst/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352544" y="50292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5074920"/>
            <a:ext cx="237744" cy="237744"/>
          </a:xfrm>
          <a:prstGeom prst="rect">
            <a:avLst/>
          </a:prstGeom>
          <a:solidFill>
            <a:srgbClr val="9FB3C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6089904" y="50292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(Dasar Sistem Informasi)  ·  D4 Teknik Informatika  ·  PENS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chapter trains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Sub-CPMK: explain the concepts of system, data, information, the components of an information system, and the roles/professions in the field.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212848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components and explain each one's role.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779776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four components stand as equals.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346704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socio-technical system — and what it means for failure.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486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913632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apart a digital service you use daily into four components.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507992"/>
            <a:ext cx="384048" cy="384048"/>
          </a:xfrm>
          <a:prstGeom prst="ellipse">
            <a:avLst/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54864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4805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the component most responsible for a failure, with reasons.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635240" y="22402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78638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PRODUCE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26700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worksheet taking a service apart into four components, with its weak point identified and the reason for that choice.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35240" y="379476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7863840" y="3794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 </a:t>
            </a:r>
            <a:r>
              <a:rPr lang="en-US" sz="13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 people · process · data · technology · socio-technical system · safeguard · weak point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B9791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works, the order never arrives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received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2263140"/>
            <a:ext cx="164592" cy="0"/>
          </a:xfrm>
          <a:prstGeom prst="line">
            <a:avLst/>
          </a:prstGeom>
          <a:noFill/>
          <a:ln w="19050">
            <a:solidFill>
              <a:srgbClr val="8A99A5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2679192" y="18745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2679192" y="1874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45152" y="2263140"/>
            <a:ext cx="164592" cy="0"/>
          </a:xfrm>
          <a:prstGeom prst="line">
            <a:avLst/>
          </a:prstGeom>
          <a:noFill/>
          <a:ln w="19050">
            <a:solidFill>
              <a:srgbClr val="8A99A5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4809744" y="18745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809744" y="1874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assigned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75704" y="2263140"/>
            <a:ext cx="164592" cy="0"/>
          </a:xfrm>
          <a:prstGeom prst="line">
            <a:avLst/>
          </a:prstGeom>
          <a:noFill/>
          <a:ln w="19050">
            <a:solidFill>
              <a:srgbClr val="8A99A5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6940296" y="18745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940296" y="1874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moves to you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06256" y="2263140"/>
            <a:ext cx="164592" cy="0"/>
          </a:xfrm>
          <a:prstGeom prst="line">
            <a:avLst/>
          </a:prstGeom>
          <a:noFill/>
          <a:ln w="19050">
            <a:solidFill>
              <a:srgbClr val="8A99A5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9070848" y="187452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9070848" y="1874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completed”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technical part ran perfectly — payment, map, database. The food never arrived.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line of code went wrong. If every technical part is correct but the outcome is wrong, there is another part of the system you haven't accounted for.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B9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part is people and process — the subject of this chapter.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components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20391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5328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620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it, who uses it, who bears the cost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583680" y="20391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25328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8620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agreed sequence of work — often unwritten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9A63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822960" y="39593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4531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recorded?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7823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happened — what is recorded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79476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9FB3C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583680" y="39593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44531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what tools?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47823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hardware, networks — serves the other three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2.1 — all four must be present; if one is missing, it is not an information system.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four are equals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8F3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component can undo the work of the other three.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46304" cy="146304"/>
          </a:xfrm>
          <a:prstGeom prst="ellipse">
            <a:avLst/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data  </a:t>
            </a:r>
            <a:r>
              <a:rPr lang="en-US" sz="15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help if no one reads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46304" cy="146304"/>
          </a:xfrm>
          <a:prstGeom prst="ellipse">
            <a:avLst/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tidy process  </a:t>
            </a:r>
            <a:r>
              <a:rPr lang="en-US" sz="15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help if the person running it doesn't know why a step exists.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46304" cy="146304"/>
          </a:xfrm>
          <a:prstGeom prst="ellipse">
            <a:avLst/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technology  </a:t>
            </a:r>
            <a:r>
              <a:rPr lang="en-US" sz="15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help if the data entering it was wrong from the start.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costly failure isn't the visible one.  </a:t>
            </a: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 failure is easy to see, so it's fixed fastest. What is expensive is the failure no one feels they own — like the lost order, where no party feels they did anything wrong.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socio-technical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technical part and human part cannot be designed separately — a change to one always changes the other.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mandatory form field — two very different changes: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77240" y="3401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side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Tiny: one new column, one input box.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9A63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6446520" y="3401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3749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clerk now pauses to think, dozens of times a day. If it seems pointless, they fill it carelessly → always filled, almost always wrong.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“is the system correct?” cannot be answered by testing the software. Testing checks the software against its design — not the design against the work people actually do.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a system fails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1B496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34640" y="1874520"/>
            <a:ext cx="8778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3063240" y="199339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doesn't work as it should.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063240" y="23500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app stops · network drops · file corrupts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548640" y="286207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2862072"/>
            <a:ext cx="8778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063240" y="2980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do what the system assumes.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63240" y="3337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a courier marks “done” without handing over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48640" y="3849624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3849624"/>
            <a:ext cx="8778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3063240" y="396849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sequence can't hold what actually happens.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63240" y="43251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no step exists to cancel an order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37176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9FB3C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548640" y="483717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34640" y="4837176"/>
            <a:ext cx="8778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3063240" y="495604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recorded doesn't match reality.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063240" y="531266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a stored address is long out of use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2.2 — failure rarely stands alone: one component fails, and the others don't hold it back.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B9791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safeguard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6E8"/>
          </a:solidFill>
          <a:ln w="19050">
            <a:solidFill>
              <a:srgbClr val="E9A63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safeguard is the part of the system that prevents one component's failure from becoming a failure of the whole 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lost order — nothing held it back: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94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 </a:t>
            </a: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demanded no proof from the receiver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94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</a:t>
            </a: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only that a button was pressed — not that anything changed hands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94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 </a:t>
            </a: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perfectly — a tidy record made it look right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four-digit code fix changes the process, not the technology.  </a:t>
            </a: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merely carries out the process change.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a service apart — 4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1901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service &amp; its boundary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 a full sentence what is inside and what is outside (Ch. 1 method).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28620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people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three roles: who uses · who does the work · who bears the consequences.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3822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process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sequence as 4–8 sentences — not a diagram yet (that's Ch. 7).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4782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data &amp; technology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what is recorded and persists. Technology: name tools by function, not brand.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FF6E8"/>
          </a:solidFill>
          <a:ln w="12700">
            <a:solidFill>
              <a:srgbClr val="E9A63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B9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identify the weak point: ask each component “if this fails, what holds it back?”  No safeguard = weak point.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B496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Food-delivery service, taken apart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seller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help-desk staff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pay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food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&amp; deliver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order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9A63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contents &amp; price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address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9FB3C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49224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448056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on the phone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service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network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data centre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2.3 — only after this can the weak point be identified.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B9791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QR-code payment at the canteen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scans, types the amount themselves, presses pay, and shows the seller a “successful” screen. The seller glances and nods.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types the amount; seller checks the screen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B97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Bears the consequences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Seller, if the amount received is short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who does the decisive work (types the amount) is not the one who bears the cost (the seller). That imbalance is a strong clue a weak point is nearby.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B9791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weak point?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safeguard question of every component: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fails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holds it 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drops, payment not sent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— the app reports it directly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recorded amount is wrong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— history is stored &amp; checkable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types an amount smaller than it should be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checks nothing but the buyer's screen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with no safeguard, reinforcing each other. 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seller checks a screen from the buyer's own phone — information from the party who gains if it's wrong. The data exists in the merchant app; no process step opens it.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A9444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it is easy to get wrong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94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information system is an application.”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is only part of the technology component. An IS can run with none — a notebook, an agreement, and people already satisfy all four.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94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software is tested, the system is correct.”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checks software against its design, not the design against the actual work. The second can't be checked from behind a desk.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94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“People are the weak component, so reduce their role.”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can't be guaranteed — but they're the only component that can recognise what the designer never anticipated. Removing them without a new safeguard just moves the failure.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information system is four components — people, process, data, technology. All must be present.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equals: each can undo the work of the other three.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Technology's failure is the most visible, so it's fixed fastest; the un-owned failure is the expensive one.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socio-technical system: the human and technical parts can't be designed separately.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system correct?” can't be answered by testing the software alone.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safeguard stops one component's failure from becoming the whole system's failure.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 point is the component whose failure nothing holds back.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is available but unused is the same as data that doesn't exist.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 &amp; references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— by level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Recall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40280" y="21031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components and the question each answers; explain 'safeguard' and how to find a weak point.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Apply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40280" y="32004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campus tuition-payment service apart into 4 components (the 4 steps); give one failure mode per component.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Analyse &amp; evaluate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40280" y="42976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apart a service you use 3×/week, ask the safeguard question of each, and defend one weak point.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2148840"/>
            <a:ext cx="4297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754380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43800" y="278892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Alter, S. (2013). “Work System Theory.” Journal of the AIS, 14(2) — the socio-technical view used here.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Laudon &amp; Laudon. Management Information Systems: Managing the Digital Firm. Pearson — organisation, management &amp; technology dimensions.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Bourgeois, D. Information Systems for Business and Beyond (open textbook) — components of an IS.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exercise is tagged Sub-CPMK-1 in the chapter.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2171</Words>
  <Application>Microsoft Office PowerPoint</Application>
  <PresentationFormat>Widescreen</PresentationFormat>
  <Paragraphs>246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— The Anatomy of an Information System</dc:title>
  <dc:subject>PptxGenJS Presentation</dc:subject>
  <dc:creator>DSI Course</dc:creator>
  <cp:lastModifiedBy>Ferry Saputra</cp:lastModifiedBy>
  <cp:revision>1</cp:revision>
  <dcterms:created xsi:type="dcterms:W3CDTF">2026-08-22T05:45:30Z</dcterms:created>
  <dcterms:modified xsi:type="dcterms:W3CDTF">2026-08-22T05:48:00Z</dcterms:modified>
</cp:coreProperties>
</file>