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530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requires no prior knowledge. It trains one skill: seeing something as a system, and knowing what that implies for how you will work later. The three ascending blocks are the chapter's spine: data -&gt; information -&gt;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chapter around these five outcomes. Outcome 5 (boundary = decision) is the amber one — it is the hardest and most important idea in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this chapter covers, motivated here: (1) data vs information — the note is what changes; (2) the bigger idea — before data/information you need a way of looking that holds both: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definition applies to almost anything — that breadth is the point, not a flaw. The perspective shift changes the proposed fix, as the traffic example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is the element most often missing in a beginner's design. The environment (e.g. ministry policy for an academic IS) influences but cannot be controlled by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class's attention to feedback because it is invisible until it fails. The boundary/environment split decides what a team can fix versus only anticipate.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chapter's central, counter-intuitive idea. The correct boundary is wide enough to hold the problem and narrow enough to be solvable. Habit: write the question in one sentence before drawing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hierarchy of sophistication — a hierarchy of reach. Stress the 'someone asking' point: information is relative to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diagnostic slide. Have students bring a real campus-service complaint and locate its layer before proposing any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to feel unsettling for Informatics students — it should. Over eight semesters they learn to build software; this course reframes software as one component among people, process, and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systems are not divided by any natural boundary — someone decided the payment check is its own system. That decision may be sound or an inherited leftover. Ties directly back to 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amber cells are the ones that moved between the two boundaries. Emphasise: nothing about the world changed — only the question you chose to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models the course's core habit: never present a clean artifact without stating where it is weak. Reward students who criticise their own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two threads (system as a way of looking; data-&gt;information-&gt;knowledge) meet in the definition of an information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C is the graded, judgement-demanding task. Encourage answers that concede the reasonable part of the objection rather than defending the course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 ·  UNDERSTANDING INFORMATION SYSTEMS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Systems, Data, and Information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256032" cy="256032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914400" y="4937760"/>
            <a:ext cx="256032" cy="39319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1280160" y="4754880"/>
            <a:ext cx="256032" cy="576072"/>
          </a:xfrm>
          <a:prstGeom prst="rect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(Dasar Sistem Informasi)  ·  D4 Teknik Informatika  ·  PENS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chapter trains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Sub-CPMK: explain the concepts of system, data, and information, the components of an information system, and the roles/professions in the field.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21284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system is, and its elements.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system's boundary — and defend where you put it.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4670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data, information, and knowledge with your own examples.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1363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information system is not a synonym for an application.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384048" cy="384048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48056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that a boundary is a decision, not a discovery.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35240" y="224028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78638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PRODUCE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26700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written statement about the boundary of a system you choose — with reasons why one element is in and another is out.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6118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786384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 </a:t>
            </a:r>
            <a:r>
              <a:rPr lang="en-US" sz="13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system · element · boundary · environment · input · process · output · feedback · data · information · knowledge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Eighty-seven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E9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4754880" y="192024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983480" y="19202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data:  </a:t>
            </a: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nothing — a score, a weight, a house number? You can do nothing with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3063240"/>
            <a:ext cx="6858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983480" y="30632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note:  </a:t>
            </a: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final exam score in this course.” Now you can act — retake, see the lecturer, or accept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434340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983480" y="43434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didn’t change. The note did. That note turns data into information.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is a way of looking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is a set of interrelated elements that work toward a single goal, separated from their surroundings by a boundary.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not a kind of object — it is a way of looking at objects. You choose to attend to the relationships between parts, not the parts one by one.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two views — traffic congestion: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crowd of undisciplined drivers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proposes enforcement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4297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644652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system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4892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asks about traffic lights, school start times, market locations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elements of a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59536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5C6B77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2468880"/>
            <a:ext cx="7589520" cy="2148840"/>
          </a:xfrm>
          <a:prstGeom prst="roundRect">
            <a:avLst>
              <a:gd name="adj" fmla="val 2128"/>
            </a:avLst>
          </a:prstGeom>
          <a:solidFill>
            <a:srgbClr val="EAF1F6"/>
          </a:solidFill>
          <a:ln w="1905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554480" y="34290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55448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00500" y="34290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00050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4652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46120" y="3863340"/>
            <a:ext cx="754380" cy="0"/>
          </a:xfrm>
          <a:prstGeom prst="line">
            <a:avLst/>
          </a:prstGeom>
          <a:noFill/>
          <a:ln w="19050">
            <a:solidFill>
              <a:srgbClr val="13293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5692140" y="3863340"/>
            <a:ext cx="754380" cy="0"/>
          </a:xfrm>
          <a:prstGeom prst="line">
            <a:avLst/>
          </a:prstGeom>
          <a:noFill/>
          <a:ln w="19050">
            <a:solidFill>
              <a:srgbClr val="13293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685800" y="3863340"/>
            <a:ext cx="868680" cy="0"/>
          </a:xfrm>
          <a:prstGeom prst="line">
            <a:avLst/>
          </a:prstGeom>
          <a:noFill/>
          <a:ln w="19050">
            <a:solidFill>
              <a:srgbClr val="13293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8138160" y="3863340"/>
            <a:ext cx="868680" cy="0"/>
          </a:xfrm>
          <a:prstGeom prst="line">
            <a:avLst/>
          </a:prstGeom>
          <a:noFill/>
          <a:ln w="19050">
            <a:solidFill>
              <a:srgbClr val="13293D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7292340" y="4297680"/>
            <a:ext cx="0" cy="502920"/>
          </a:xfrm>
          <a:prstGeom prst="line">
            <a:avLst/>
          </a:prstGeom>
          <a:noFill/>
          <a:ln w="19050">
            <a:solidFill>
              <a:srgbClr val="B9791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2400300" y="4800600"/>
            <a:ext cx="4892040" cy="0"/>
          </a:xfrm>
          <a:prstGeom prst="line">
            <a:avLst/>
          </a:prstGeom>
          <a:noFill/>
          <a:ln w="19050">
            <a:solidFill>
              <a:srgbClr val="B9791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2400300" y="4297680"/>
            <a:ext cx="0" cy="502920"/>
          </a:xfrm>
          <a:prstGeom prst="line">
            <a:avLst/>
          </a:prstGeom>
          <a:noFill/>
          <a:ln w="19050">
            <a:solidFill>
              <a:srgbClr val="B9791B"/>
            </a:solidFill>
            <a:prstDash val="solid"/>
            <a:head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2400300" y="482803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48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1.1 — the five elements and the boundary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process ·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418320" y="3200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output used to correct the next input/process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18320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system from environment, which it cannot control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element most often missing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 system can run for years producing wrong output — because there is no path for the error to return.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self-correcting system vs. one that repeats the same mistake endlessly.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B496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 vs  ENVIRONMENT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separates the system from its environment. The environment influences the system but cannot be controlled by it.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for an academic information system, ministry policy sits in the environment — it shapes the system but cannot be changed by 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is a decision, not a discovery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boundary is set by the person describing it, and depends on the question they intend to answer.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service — course registration — two questions, two boundaries: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was the page slow on day one?”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boundary: </a:t>
            </a: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campus network, concurrent load.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2461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644652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many pick the wrong class?”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86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boundary: </a:t>
            </a: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academic advisors, how the schedule is built. Network speed is now irrelevant.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boundary — an unstated boundary is read by others as the whole picture, and that misleads.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information, and knowledge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187452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2880360" y="20025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that holds across many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0360" y="23774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“Students who do the weekly exercises usually score above 80.”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51760" y="324612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880360" y="33741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someone's question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37490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final exam score in this course is 87.”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496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651760" y="4617720"/>
            <a:ext cx="55778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2880360" y="474573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record, not yet meaningful on its own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5120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“87”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531620" y="4297680"/>
            <a:ext cx="0" cy="32004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head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278892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meaning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531620" y="2926080"/>
            <a:ext cx="0" cy="320040"/>
          </a:xfrm>
          <a:prstGeom prst="line">
            <a:avLst/>
          </a:prstGeom>
          <a:noFill/>
          <a:ln w="19050">
            <a:solidFill>
              <a:srgbClr val="8A99A5"/>
            </a:solidFill>
            <a:prstDash val="solid"/>
            <a:head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278892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&amp; tested repeatedly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49640" y="1874520"/>
            <a:ext cx="3063240" cy="3291840"/>
          </a:xfrm>
          <a:prstGeom prst="roundRect">
            <a:avLst>
              <a:gd name="adj" fmla="val 2388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87782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difference of REACH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one event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7824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one question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78240" y="3794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r>
              <a:rPr lang="en-US" sz="13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many events not yet happened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77824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asking? Then there is no information — only tidy data.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1.2 — data, information, and knowledge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distinction is useful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same-sounding complaint points to a different layer — and a different fix.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278892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complaint you hear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problem lies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check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data isn't there.”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the event actually recorded?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data is there but doesn't answer my question.”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F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the question ever formulated?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“We have the report but still decided wrong.”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979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pattern really exist, or is it coincidence?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these three apart already makes you more useful than someone who offers an app for all three.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information system is not an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information system collects, processes, stores, and distributes information to help people make decisions within an organisation.</a:t>
            </a:r>
            <a:r>
              <a:rPr lang="en-US" sz="1650" b="1" dirty="0">
                <a:solidFill>
                  <a:srgbClr val="1F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notice: no software mentioned.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 with no software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laundry outlet with a notebook, numbered receipts, and a rule that the receipt is clipped to the bag collects, processes, stores, and distributes information — and helps people decide.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88036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7B7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49224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94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Software that isn't an 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5204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no one uses — or that helps no decision — is not a successful information system, however perfect its code. (You'll meet examples in Ch. 5 and Ch. 9.)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one part of something larger — and the other parts fail far more often.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B496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tap, several systems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“save” on course registration and you cross several systems, each with a different boundary and a different owner: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you are really you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05940" y="3931920"/>
            <a:ext cx="0" cy="457200"/>
          </a:xfrm>
          <a:prstGeom prst="line">
            <a:avLst/>
          </a:prstGeom>
          <a:noFill/>
          <a:ln w="15875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9" name="Shape 7"/>
          <p:cNvSpPr/>
          <p:nvPr/>
        </p:nvSpPr>
        <p:spPr>
          <a:xfrm>
            <a:off x="3337560" y="2377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474720" y="25420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list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courses and their quotas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94860" y="3931920"/>
            <a:ext cx="0" cy="457200"/>
          </a:xfrm>
          <a:prstGeom prst="line">
            <a:avLst/>
          </a:prstGeom>
          <a:noFill/>
          <a:ln w="15875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3" name="Shape 11"/>
          <p:cNvSpPr/>
          <p:nvPr/>
        </p:nvSpPr>
        <p:spPr>
          <a:xfrm>
            <a:off x="6126480" y="2377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A63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263640" y="25420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check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you have paid (UKT)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3780" y="3931920"/>
            <a:ext cx="0" cy="457200"/>
          </a:xfrm>
          <a:prstGeom prst="line">
            <a:avLst/>
          </a:prstGeom>
          <a:noFill/>
          <a:ln w="15875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8915400" y="237744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9052560" y="25420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5256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request, for later disputes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72700" y="3931920"/>
            <a:ext cx="0" cy="457200"/>
          </a:xfrm>
          <a:prstGeom prst="line">
            <a:avLst/>
          </a:prstGeom>
          <a:noFill/>
          <a:ln w="15875">
            <a:solidFill>
              <a:srgbClr val="8A99A5"/>
            </a:solidFill>
            <a:prstDash val="solid"/>
            <a:tailEnd type="triangle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4114800" y="452628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4114800" y="4526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Save  ]  — one button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B9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you, one button. To the maintainers, separate systems that happen to cooperate — and most problems live at the borders between them.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the boundary on course registration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Why was the page slow?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Why did students pick the wrong class?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440680" cy="206654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software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students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data centre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Simultaneous-open policy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mobile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Teaching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057400"/>
          <a:ext cx="5440680" cy="206654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&amp; how they choose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students' hours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Class-list display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 friends' advice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Data-centre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advisor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calendar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(highlighted amber):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speed slid from inside → outside; the student went from unmentioned → central. Same service, same people, same day — only the question changed.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9791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critique of our own result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chapter ends without a decision you must defend. Two honest caveats about the tables above: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general knowledge, not field observation. In a real service, several elements would move columns. Useful as an exercise — dangerous as the basis for a decision.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E9A63C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40233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neat columns hide the border cases. Concurrent load can be partly controlled by staggering the opening — so placing it in the environment is a choice, not a fact.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not a kind of object — it is a way of looking at objects.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elements: input, process, output, feedback, and a boundary against the environment.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is the element most often missing; without it, errors repeat indefinitely.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set by the describer, depending on the question — a decision, not a discovery.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boundary is wide enough to hold the problem, narrow enough to be solvable.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one event · information = one question · knowledge = many events not yet happened.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9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asking, no information — only tidy data. And an IS needs no software.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&amp; references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— by level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5780" y="232257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25780" y="23225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Recall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2103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elements; explain why feedback is the one most often missing.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5780" y="337413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25780" y="337413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Apply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0280" y="3154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campus service; draw its elements (Fig. 1.1) with feedback, and build a 3-column boundary table for one question you write first.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5780" y="4425696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25780" y="442569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Analyse &amp; evaluate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40280" y="42062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the table with a different question, show what moved, and respond to: “this course teaches building nothing.”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2148840"/>
            <a:ext cx="4297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3DCE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75438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278892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Laudon &amp; Laudon. Management Information Systems: Managing the Digital Firm. Pearson — opening chapter.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Bourgeois, D. Information Systems for Business and Beyond (open textbook) — “what an IS is.”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Alter, S. (2013). “Work System Theory.” Journal of the AIS, 14(2).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exercise is tagged Sub-CPMK-1 in the chapter.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Information Systems   ·   Ch.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2161</Words>
  <Application>Microsoft Office PowerPoint</Application>
  <PresentationFormat>Widescreen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Systems, Data, and Information</dc:title>
  <dc:subject>PptxGenJS Presentation</dc:subject>
  <dc:creator>DSI Course</dc:creator>
  <cp:lastModifiedBy>Ferry Saputra</cp:lastModifiedBy>
  <cp:revision>2</cp:revision>
  <dcterms:created xsi:type="dcterms:W3CDTF">2026-08-22T05:36:45Z</dcterms:created>
  <dcterms:modified xsi:type="dcterms:W3CDTF">2026-08-22T05:40:24Z</dcterms:modified>
</cp:coreProperties>
</file>